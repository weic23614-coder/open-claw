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医药消费者保护指南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CA5A5"/>
                </a:solidFill>
              </a:rPr>
              <a:t>买保健品  别再被骗了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年销十亿的假洋牌告诉我们——包装光鲜、口碑满分，不等于国家认证。花30秒查批号，避开99%的坑。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931920"/>
            <a:ext cx="2560320" cy="1463040"/>
          </a:xfrm>
          <a:prstGeom prst="rect">
            <a:avLst/>
          </a:prstGeom>
          <a:solidFill>
            <a:srgbClr val="1A1D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0050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</a:rPr>
              <a:t>10亿+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6817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假洋牌年销售额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3931920"/>
            <a:ext cx="2560320" cy="1463040"/>
          </a:xfrm>
          <a:prstGeom prst="rect">
            <a:avLst/>
          </a:prstGeom>
          <a:solidFill>
            <a:srgbClr val="1A1D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40050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</a:rP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6817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消费者不查认证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931920"/>
            <a:ext cx="2560320" cy="1463040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0050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</a:rPr>
              <a:t>30秒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6817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查清真假的时间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由 1药网 出品  |  专业医药平台科普内容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CHAPTER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你以为在买这些，其实买到的是这些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57600" cy="4206240"/>
          </a:xfrm>
          <a:prstGeom prst="rect">
            <a:avLst/>
          </a:prstGeom>
          <a:solidFill>
            <a:srgbClr val="1A1D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</a:rPr>
              <a:t>假洋牌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注册在国内，工厂在国内
却起英文名、标注"德国品质"
代表特征：英文名+洋logo+国内厂址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463040"/>
            <a:ext cx="3657600" cy="4206240"/>
          </a:xfrm>
          <a:prstGeom prst="rect">
            <a:avLst/>
          </a:prstGeom>
          <a:solidFill>
            <a:srgbClr val="1A1D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600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</a:rPr>
              <a:t>无证产品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9456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没有国家批准文号
以"食品"或"海外代购"名义销售
代表特征：无批号+夸大宣传+私域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4464" y="1463040"/>
            <a:ext cx="3657600" cy="4206240"/>
          </a:xfrm>
          <a:prstGeom prst="rect">
            <a:avLst/>
          </a:prstGeom>
          <a:solidFill>
            <a:srgbClr val="1A1D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21624" y="1600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5CF6"/>
                </a:solidFill>
              </a:rPr>
              <a:t>违规宣传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19456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产品可能合法，但广告使用
"治愈""根治""临床验证"等违禁语言
代表特征：无广审批号+治疗性语言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852160"/>
            <a:ext cx="11247120" cy="804672"/>
          </a:xfrm>
          <a:prstGeom prst="rect">
            <a:avLst/>
          </a:prstGeom>
          <a:solidFill>
            <a:srgbClr val="1C1010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88736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A5A5"/>
                </a:solidFill>
              </a:rPr>
              <a:t>关键问题：上述三类产品在电商平台可获得正规外观——精美图片、大量好评、达人推荐，仅靠眼睛看根本无法分辨。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CHAPTER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国家认证体系  只需记住这三个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买药品和保健品，看这三个证号，缺一个都要警惕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4434840"/>
          </a:xfrm>
          <a:prstGeom prst="rect">
            <a:avLst/>
          </a:prstGeom>
          <a:solidFill>
            <a:srgbClr val="1A1D3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</a:rPr>
              <a:t>小蓝帽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保健食品专属标志
包装上必须有天蓝色帽形图案
批准文号格式：
国食健字G+年份+4位数
(如：国食健字G20180012)
适用：维生素、鱼油、益生菌等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737360"/>
            <a:ext cx="3657600" cy="4434840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874519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</a:rPr>
              <a:t>国药准字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4231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药品专属批准文号
H=化学药  Z=中成药
S=生物制品  J=进口药
格式：
国药准字H+年份+6位数
适用：OTC药品、处方药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4464" y="1737360"/>
            <a:ext cx="3657600" cy="4434840"/>
          </a:xfrm>
          <a:prstGeom prst="rect">
            <a:avLst/>
          </a:prstGeom>
          <a:solidFill>
            <a:srgbClr val="1A1D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1624" y="1874519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</a:rPr>
              <a:t>医疗器械证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24231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三类器械有注册证
一二类有备案凭证
格式：
国械注准/备+年份+编号
(进口：国械注进)
适用：血糖仪、血压计、医用口罩等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solidFill>
            <a:srgbClr val="1C1A10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3276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DE68A"/>
                </a:solidFill>
              </a:rPr>
              <a:t>保健品不等于药品。小蓝帽产品只能辅助调节身体机能，不能治病。凡是保健品宣传"治疗""治愈"，必然违法。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30秒辨别真假  6步操作法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1389888"/>
          </a:xfrm>
          <a:prstGeom prst="rect">
            <a:avLst/>
          </a:prstGeom>
          <a:solidFill>
            <a:srgbClr val="1A1D3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402336" cy="13898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554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3C5FD"/>
                </a:solidFill>
              </a:rPr>
              <a:t>查批准文号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11680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找"国食健字"/"国药准字"/"国械注准"；到nmpa.gov.cn验证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577840" cy="1389888"/>
          </a:xfrm>
          <a:prstGeom prst="rect">
            <a:avLst/>
          </a:prstGeom>
          <a:solidFill>
            <a:srgbClr val="1A1D3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402336" cy="13898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1554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3C5FD"/>
                </a:solidFill>
              </a:rPr>
              <a:t>查生产企业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011680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天眼查/企查查核实注册地。宣称"英国百年"但成立3年=假洋牌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5577840" cy="1389888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402336" cy="13898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33756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063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EE7B7"/>
                </a:solidFill>
              </a:rPr>
              <a:t>看包装六项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520440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批准文号·保健功能·适宜人群·不适宜人群·用法用量·注意事项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71800"/>
            <a:ext cx="5577840" cy="1389888"/>
          </a:xfrm>
          <a:prstGeom prst="rect">
            <a:avLst/>
          </a:prstGeom>
          <a:solidFill>
            <a:srgbClr val="1A1D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971800"/>
            <a:ext cx="402336" cy="13898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33756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3063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5A5"/>
                </a:solidFill>
              </a:rPr>
              <a:t>识别违禁话术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3520440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出现：治愈/根治/临床验证/专家推荐/无副作用 -&gt; 立即放弃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80560"/>
            <a:ext cx="5577840" cy="1389888"/>
          </a:xfrm>
          <a:prstGeom prst="rect">
            <a:avLst/>
          </a:prstGeom>
          <a:solidFill>
            <a:srgbClr val="1A1D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480560"/>
            <a:ext cx="402336" cy="1389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84632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572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DE68A"/>
                </a:solidFill>
              </a:rPr>
              <a:t>查广告批号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029200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需有"X药广审文"/"X食健广审文"；没有=违规广告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480560"/>
            <a:ext cx="5577840" cy="1389888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480560"/>
            <a:ext cx="402336" cy="13898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84632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572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EE7B7"/>
                </a:solidFill>
              </a:rPr>
              <a:t>选正规渠道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5029200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持有互联网药品信息服务资质的平台，商家资质有审核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这5个"认证"，其实毫无意义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841248"/>
          </a:xfrm>
          <a:prstGeom prst="rect">
            <a:avLst/>
          </a:prstGeom>
          <a:solidFill>
            <a:srgbClr val="1C101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721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CA5A5"/>
                </a:solidFill>
              </a:rPr>
              <a:t>X  FDA备案/注册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379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FDA备案门槛极低，任何工厂花几百美元就能完成，不代表产品经过审查和认证。备案不等于批准。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86584"/>
            <a:ext cx="11247120" cy="841248"/>
          </a:xfrm>
          <a:prstGeom prst="rect">
            <a:avLst/>
          </a:prstGeom>
          <a:solidFill>
            <a:srgbClr val="1C101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414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CA5A5"/>
                </a:solidFill>
              </a:rPr>
              <a:t>X  ISO认证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072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ISO是管理体系认证，是对企业流程的认证，不是对产品安全性和有效性的认证。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55848"/>
            <a:ext cx="11247120" cy="841248"/>
          </a:xfrm>
          <a:prstGeom prst="rect">
            <a:avLst/>
          </a:prstGeom>
          <a:solidFill>
            <a:srgbClr val="1C101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107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CA5A5"/>
                </a:solidFill>
              </a:rPr>
              <a:t>X  国际认证机构认证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764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SGS/TUV认证只针对特定检测项目，企业自己委托检测，不具备监管效力，不代表整体合规。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25112"/>
            <a:ext cx="11247120" cy="841248"/>
          </a:xfrm>
          <a:prstGeom prst="rect">
            <a:avLst/>
          </a:prstGeom>
          <a:solidFill>
            <a:srgbClr val="1C101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799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CA5A5"/>
                </a:solidFill>
              </a:rPr>
              <a:t>X  XX国家热销/原装进口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457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在国外某平台有销售不代表在中国合法销售。没有中国批准文号就是违规销售。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94376"/>
            <a:ext cx="11247120" cy="841248"/>
          </a:xfrm>
          <a:prstGeom prst="rect">
            <a:avLst/>
          </a:prstGeom>
          <a:solidFill>
            <a:srgbClr val="1C1A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349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E68A"/>
                </a:solidFill>
              </a:rPr>
              <a:t>√  一致性评价（真的有意义）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715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DE68A"/>
                </a:solidFill>
              </a:rPr>
              <a:t>通过一致性评价的仿制药，代表药效与原研药等同。买仿制药时可关注包装上的相关注明。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CHAPTER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正规品 vs 问题品  对比一眼看懂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2926080" cy="475488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7560" y="1389888"/>
            <a:ext cx="3931920" cy="475488"/>
          </a:xfrm>
          <a:prstGeom prst="rect">
            <a:avLst/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389888"/>
            <a:ext cx="4480560" cy="475488"/>
          </a:xfrm>
          <a:prstGeom prst="rect">
            <a:avLst/>
          </a:prstGeom>
          <a:solidFill>
            <a:srgbClr val="05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0817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</a:rPr>
              <a:t>对比项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40817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CA5A5"/>
                </a:solidFill>
              </a:rPr>
              <a:t>问题产品特征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40817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EE7B7"/>
                </a:solidFill>
              </a:rPr>
              <a:t>正规产品特征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38528"/>
            <a:ext cx="2926080" cy="694944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938528"/>
            <a:ext cx="3931920" cy="694944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938528"/>
            <a:ext cx="4480560" cy="694944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2996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批准文号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993392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无批号/无法查询/格式不符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993392"/>
            <a:ext cx="4389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</a:rPr>
              <a:t>国食健字/国药准字/器械证，官网可查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70048"/>
            <a:ext cx="2926080" cy="694944"/>
          </a:xfrm>
          <a:prstGeom prst="rect">
            <a:avLst/>
          </a:prstGeom>
          <a:solidFill>
            <a:srgbClr val="11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2670048"/>
            <a:ext cx="3931920" cy="694944"/>
          </a:xfrm>
          <a:prstGeom prst="rect">
            <a:avLst/>
          </a:prstGeom>
          <a:solidFill>
            <a:srgbClr val="11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2670048"/>
            <a:ext cx="4480560" cy="694944"/>
          </a:xfrm>
          <a:prstGeom prst="rect">
            <a:avLst/>
          </a:prstGeom>
          <a:solidFill>
            <a:srgbClr val="11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7614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品牌来源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724912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宣传"德国/美国"但工商注册在国内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724912"/>
            <a:ext cx="4389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</a:rPr>
              <a:t>品牌来源清晰，与工商信息一致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01568"/>
            <a:ext cx="2926080" cy="694944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3401568"/>
            <a:ext cx="3931920" cy="694944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3401568"/>
            <a:ext cx="4480560" cy="694944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49300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功效宣传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456432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治愈/根治/百分百有效/无副作用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456432"/>
            <a:ext cx="4389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</a:rPr>
              <a:t>只描述27种法定保健功能/适应症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33088"/>
            <a:ext cx="2926080" cy="694944"/>
          </a:xfrm>
          <a:prstGeom prst="rect">
            <a:avLst/>
          </a:prstGeom>
          <a:solidFill>
            <a:srgbClr val="11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4133088"/>
            <a:ext cx="3931920" cy="694944"/>
          </a:xfrm>
          <a:prstGeom prst="rect">
            <a:avLst/>
          </a:prstGeom>
          <a:solidFill>
            <a:srgbClr val="11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4133088"/>
            <a:ext cx="4480560" cy="694944"/>
          </a:xfrm>
          <a:prstGeom prst="rect">
            <a:avLst/>
          </a:prstGeom>
          <a:solidFill>
            <a:srgbClr val="11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22452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广告合规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187952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无广审批号，KOL种草无声明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187952"/>
            <a:ext cx="4389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</a:rPr>
              <a:t>广告有审查批号，代言有资质声明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64608"/>
            <a:ext cx="2926080" cy="694944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37560" y="4864608"/>
            <a:ext cx="3931920" cy="694944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0" y="4864608"/>
            <a:ext cx="4480560" cy="694944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9560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包装信息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919472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信息不全/无中文标签/无注意事项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4919472"/>
            <a:ext cx="4389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</a:rPr>
              <a:t>六项必备信息完整，字体清晰可读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96128"/>
            <a:ext cx="2926080" cy="694944"/>
          </a:xfrm>
          <a:prstGeom prst="rect">
            <a:avLst/>
          </a:prstGeom>
          <a:solidFill>
            <a:srgbClr val="11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37560" y="5596128"/>
            <a:ext cx="3931920" cy="694944"/>
          </a:xfrm>
          <a:prstGeom prst="rect">
            <a:avLst/>
          </a:prstGeom>
          <a:solidFill>
            <a:srgbClr val="11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5596128"/>
            <a:ext cx="4480560" cy="694944"/>
          </a:xfrm>
          <a:prstGeom prst="rect">
            <a:avLst/>
          </a:prstGeom>
          <a:solidFill>
            <a:srgbClr val="11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68756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销售渠道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50992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私域微商/朋友圈/不知名小平台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5650992"/>
            <a:ext cx="4389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</a:rPr>
              <a:t>持有互联网药品经营资质的正规平台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CHAPTER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买药/保健品前  必做检查清单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收藏这一页，下次购买前对照检查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19072"/>
            <a:ext cx="5577840" cy="1115568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5623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[v] 包装上是否有 小蓝帽 / 国药准字 / 器械证号 之一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19072"/>
            <a:ext cx="5577840" cy="1115568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[v] 打开国家药监局官网(nmpa.gov.cn)输入批准文号核实是否真实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53512"/>
            <a:ext cx="5577840" cy="1115568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[v] 品牌宣传的"进口/外国"信息，与工商注册信息是否一致(天眼查)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953512"/>
            <a:ext cx="5577840" cy="1115568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09067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[v] 宣传内容是否出现 治愈/根治/专家推荐/临床证明 等违禁词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87952"/>
            <a:ext cx="5577840" cy="1115568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32511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[v] 广告或种草内容是否有广审批号（没有即违规广告）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187952"/>
            <a:ext cx="5577840" cy="1115568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32511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[v] 购买渠道是否为持有互联网药品经营资质的平台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422392"/>
            <a:ext cx="5577840" cy="1115568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55955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[v] 价格是否异常低廉（假冒伪劣）或异常高昂（噱头营销）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5422392"/>
            <a:ext cx="5577840" cy="1115568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555955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[v] 该功效是否已有国药准字版本，价格更低且更安全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CHAPTER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发现问题产品  这样维权举报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2743200" cy="4800600"/>
          </a:xfrm>
          <a:prstGeom prst="rect">
            <a:avLst/>
          </a:prstGeom>
          <a:solidFill>
            <a:srgbClr val="1A1D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51790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12331 投诉举报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205740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国家市场监管总局
食品药品投诉举报热线
可举报：无证保健食品
虚假宣传药品
假冒医疗器械/违规广告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389888"/>
            <a:ext cx="2743200" cy="4800600"/>
          </a:xfrm>
          <a:prstGeom prst="rect">
            <a:avLst/>
          </a:prstGeom>
          <a:solidFill>
            <a:srgbClr val="1A1D3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51790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</a:rPr>
              <a:t>平台投诉机制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205740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在购买平台发起投诉：
商品页-&gt;举报商品
订单页-&gt;申请退款
客服-&gt;反馈虚假宣传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1389888"/>
            <a:ext cx="2743200" cy="4800600"/>
          </a:xfrm>
          <a:prstGeom prst="rect">
            <a:avLst/>
          </a:prstGeom>
          <a:solidFill>
            <a:srgbClr val="1A1D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51790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消费者权益保护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05740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12315消费者投诉热线
保留购买凭证、聊天记录
保健食品虚假宣传-&gt;退一赔三
药品质量问题-&gt;退一赔十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98864" y="1389888"/>
            <a:ext cx="2743200" cy="4800600"/>
          </a:xfrm>
          <a:prstGeom prst="rect">
            <a:avLst/>
          </a:prstGeom>
          <a:solidFill>
            <a:srgbClr val="1A1D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51790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5CF6"/>
                </a:solidFill>
              </a:rPr>
              <a:t>扩散提醒周边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205740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截图保存证据后分享给家人
在购买页留真实评价
社交平台曝光时附查询截图
让更多人知道如何识别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买得明白，用得放心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</a:rPr>
              <a:t>面对眼花缭乱的保健品市场，记住三个字：查批号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743200"/>
            <a:ext cx="2286000" cy="2633472"/>
          </a:xfrm>
          <a:prstGeom prst="rect">
            <a:avLst/>
          </a:prstGeom>
          <a:solidFill>
            <a:srgbClr val="1A1D3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3C5FD"/>
                </a:solidFill>
              </a:rPr>
              <a:t>查批号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01568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nmpa.gov.cn
国家药监局官网
免费查询所有认证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743200"/>
            <a:ext cx="2286000" cy="2633472"/>
          </a:xfrm>
          <a:prstGeom prst="rect">
            <a:avLst/>
          </a:prstGeom>
          <a:solidFill>
            <a:srgbClr val="1A1D3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8346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3C5FD"/>
                </a:solidFill>
              </a:rPr>
              <a:t>查企业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401568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天眼查 / 企查查
核实品牌背景
识别假洋牌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2286000" cy="2633472"/>
          </a:xfrm>
          <a:prstGeom prst="rect">
            <a:avLst/>
          </a:prstGeom>
          <a:solidFill>
            <a:srgbClr val="1A1D3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346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3C5FD"/>
                </a:solidFill>
              </a:rPr>
              <a:t>选平台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01568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持有互联网药品
经营资质的正规平台
保障安全有据可查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9" y="2743200"/>
            <a:ext cx="2286000" cy="2633472"/>
          </a:xfrm>
          <a:prstGeom prst="rect">
            <a:avLst/>
          </a:prstGeom>
          <a:solidFill>
            <a:srgbClr val="1A1D3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79" y="28346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3C5FD"/>
                </a:solidFill>
              </a:rPr>
              <a:t>敢举报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79" y="3401568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12331 / 12315
发现问题不沉默
每次举报都有意义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1药网  |  持有互联网药品信息服务资质  |  商家准入严格审核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</a:rPr>
              <a:t>关注我们，持续获取医药消费者保护内容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